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presentationml/2006/relationships/slideMaster" Target="slideMasters/slideMaster1.xml"/><Relationship Id="rId2" Type="http://schemas.openxmlformats.org/presentationml/2006/relationships/slide" Target="slides/slide1.xml"/><Relationship Id="rId3" Type="http://schemas.openxmlformats.org/presentationml/2006/relationships/slide" Target="slides/slide2.xml"/><Relationship Id="rId4" Type="http://schemas.openxmlformats.org/presentationml/2006/relationships/slide" Target="slides/slide3.xml"/><Relationship Id="rId5" Type="http://schemas.openxmlformats.org/presentationml/2006/relationships/slide" Target="slides/slide4.xml"/><Relationship Id="rId6" Type="http://schemas.openxmlformats.org/presentationml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presentationml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presentationml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presentationml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presentationml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presentationml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presentationml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presentationml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Accent"/>
          <p:cNvSpPr/>
          <p:nvPr/>
        </p:nvSpPr>
        <p:spPr>
          <a:xfrm>
            <a:off x="914400" y="2057400"/>
            <a:ext cx="1295400" cy="28575"/>
          </a:xfrm>
          <a:prstGeom prst="rect">
            <a:avLst/>
          </a:prstGeom>
          <a:solidFill>
            <a:srgbClr val="B7A6FF"/>
          </a:solidFill>
        </p:spPr>
        <p:txBody>
          <a:bodyPr/>
          <a:lstStyle/>
          <a:p/>
        </p:txBody>
      </p:sp>
      <p:sp>
        <p:nvSpPr>
          <p:cNvPr id="2" name="Box 2"/>
          <p:cNvSpPr>
            <a:spLocks noGrp="1"/>
          </p:cNvSpPr>
          <p:nvPr/>
        </p:nvSpPr>
        <p:spPr>
          <a:xfrm>
            <a:off x="914400" y="640080"/>
            <a:ext cx="10363200" cy="1280160"/>
          </a:xfrm>
          <a:prstGeom prst="rect">
            <a:avLst/>
          </a:prstGeom>
        </p:spPr>
        <p:txBody>
          <a:bodyPr wrap="square" anch="b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3000" b="1" dirty="0">
                <a:solidFill>
                  <a:srgbClr val="EDE9F7"/>
                </a:solidFill>
              </a:rPr>
              <a:t>长对话如何长出新想法</a:t>
            </a:r>
          </a:p>
        </p:txBody>
      </p:sp>
      <p:sp>
        <p:nvSpPr>
          <p:cNvPr id="3" name="Box 3"/>
          <p:cNvSpPr>
            <a:spLocks noGrp="1"/>
          </p:cNvSpPr>
          <p:nvPr/>
        </p:nvSpPr>
        <p:spPr>
          <a:xfrm>
            <a:off x="914400" y="2286000"/>
            <a:ext cx="10363200" cy="4114800"/>
          </a:xfrm>
          <a:prstGeom prst="rect">
            <a:avLst/>
          </a:prstGeom>
        </p:spPr>
        <p:txBody>
          <a:bodyPr wrap="square" anch="t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1300" b="0" dirty="0">
                <a:solidFill>
                  <a:srgbClr val="9A96A8"/>
                </a:solidFill>
              </a:rPr>
              <a:t>2026/9/29 · Weave 导出</a:t>
            </a:r>
          </a:p>
          <a:p>
            <a:pPr marL="0" indent="0">
              <a:spcBef>
                <a:spcPts val="800"/>
              </a:spcBef>
            </a:pPr>
            <a:r>
              <a:rPr lang="zh-CN" sz="1300" b="0" dirty="0">
                <a:solidFill>
                  <a:srgbClr val="9A96A8"/>
                </a:solidFill>
              </a:rPr>
              <a:t>5 个想法节点 · 来源对话：长对话如何长出新想法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Accent"/>
          <p:cNvSpPr/>
          <p:nvPr/>
        </p:nvSpPr>
        <p:spPr>
          <a:xfrm>
            <a:off x="914400" y="2057400"/>
            <a:ext cx="1295400" cy="28575"/>
          </a:xfrm>
          <a:prstGeom prst="rect">
            <a:avLst/>
          </a:prstGeom>
          <a:solidFill>
            <a:srgbClr val="B7A6FF"/>
          </a:solidFill>
        </p:spPr>
        <p:txBody>
          <a:bodyPr/>
          <a:lstStyle/>
          <a:p/>
        </p:txBody>
      </p:sp>
      <p:sp>
        <p:nvSpPr>
          <p:cNvPr id="2" name="Box 2"/>
          <p:cNvSpPr>
            <a:spLocks noGrp="1"/>
          </p:cNvSpPr>
          <p:nvPr/>
        </p:nvSpPr>
        <p:spPr>
          <a:xfrm>
            <a:off x="914400" y="640080"/>
            <a:ext cx="10363200" cy="1280160"/>
          </a:xfrm>
          <a:prstGeom prst="rect">
            <a:avLst/>
          </a:prstGeom>
        </p:spPr>
        <p:txBody>
          <a:bodyPr wrap="square" anch="b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3000" b="1" dirty="0">
                <a:solidFill>
                  <a:srgbClr val="EDE9F7"/>
                </a:solidFill>
              </a:rPr>
              <a:t>为什么普通线性聊天会让人忘记之前的重要想法</a:t>
            </a:r>
          </a:p>
        </p:txBody>
      </p:sp>
      <p:sp>
        <p:nvSpPr>
          <p:cNvPr id="3" name="Box 3"/>
          <p:cNvSpPr>
            <a:spLocks noGrp="1"/>
          </p:cNvSpPr>
          <p:nvPr/>
        </p:nvSpPr>
        <p:spPr>
          <a:xfrm>
            <a:off x="914400" y="2286000"/>
            <a:ext cx="10363200" cy="4114800"/>
          </a:xfrm>
          <a:prstGeom prst="rect">
            <a:avLst/>
          </a:prstGeom>
        </p:spPr>
        <p:txBody>
          <a:bodyPr wrap="square" anch="t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1200" b="0" dirty="0">
                <a:solidFill>
                  <a:srgbClr val="7A7688"/>
                </a:solidFill>
              </a:rPr>
              <a:t>（此分支暂无子想法）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Accent"/>
          <p:cNvSpPr/>
          <p:nvPr/>
        </p:nvSpPr>
        <p:spPr>
          <a:xfrm>
            <a:off x="914400" y="2057400"/>
            <a:ext cx="1295400" cy="28575"/>
          </a:xfrm>
          <a:prstGeom prst="rect">
            <a:avLst/>
          </a:prstGeom>
          <a:solidFill>
            <a:srgbClr val="B7A6FF"/>
          </a:solidFill>
        </p:spPr>
        <p:txBody>
          <a:bodyPr/>
          <a:lstStyle/>
          <a:p/>
        </p:txBody>
      </p:sp>
      <p:sp>
        <p:nvSpPr>
          <p:cNvPr id="2" name="Box 2"/>
          <p:cNvSpPr>
            <a:spLocks noGrp="1"/>
          </p:cNvSpPr>
          <p:nvPr/>
        </p:nvSpPr>
        <p:spPr>
          <a:xfrm>
            <a:off x="914400" y="640080"/>
            <a:ext cx="10363200" cy="1280160"/>
          </a:xfrm>
          <a:prstGeom prst="rect">
            <a:avLst/>
          </a:prstGeom>
        </p:spPr>
        <p:txBody>
          <a:bodyPr wrap="square" anch="b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3000" b="1" dirty="0">
                <a:solidFill>
                  <a:srgbClr val="EDE9F7"/>
                </a:solidFill>
              </a:rPr>
              <a:t>如果我读到一半突然想问一个小问题，怎样才能不丢掉刚才的阅读位置</a:t>
            </a:r>
          </a:p>
        </p:txBody>
      </p:sp>
      <p:sp>
        <p:nvSpPr>
          <p:cNvPr id="3" name="Box 3"/>
          <p:cNvSpPr>
            <a:spLocks noGrp="1"/>
          </p:cNvSpPr>
          <p:nvPr/>
        </p:nvSpPr>
        <p:spPr>
          <a:xfrm>
            <a:off x="914400" y="2286000"/>
            <a:ext cx="10363200" cy="4114800"/>
          </a:xfrm>
          <a:prstGeom prst="rect">
            <a:avLst/>
          </a:prstGeom>
        </p:spPr>
        <p:txBody>
          <a:bodyPr wrap="square" anch="t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1200" b="0" dirty="0">
                <a:solidFill>
                  <a:srgbClr val="7A7688"/>
                </a:solidFill>
              </a:rPr>
              <a:t>（此分支暂无子想法）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Accent"/>
          <p:cNvSpPr/>
          <p:nvPr/>
        </p:nvSpPr>
        <p:spPr>
          <a:xfrm>
            <a:off x="914400" y="2057400"/>
            <a:ext cx="1295400" cy="28575"/>
          </a:xfrm>
          <a:prstGeom prst="rect">
            <a:avLst/>
          </a:prstGeom>
          <a:solidFill>
            <a:srgbClr val="B7A6FF"/>
          </a:solidFill>
        </p:spPr>
        <p:txBody>
          <a:bodyPr/>
          <a:lstStyle/>
          <a:p/>
        </p:txBody>
      </p:sp>
      <p:sp>
        <p:nvSpPr>
          <p:cNvPr id="2" name="Box 2"/>
          <p:cNvSpPr>
            <a:spLocks noGrp="1"/>
          </p:cNvSpPr>
          <p:nvPr/>
        </p:nvSpPr>
        <p:spPr>
          <a:xfrm>
            <a:off x="914400" y="640080"/>
            <a:ext cx="10363200" cy="1280160"/>
          </a:xfrm>
          <a:prstGeom prst="rect">
            <a:avLst/>
          </a:prstGeom>
        </p:spPr>
        <p:txBody>
          <a:bodyPr wrap="square" anch="b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3000" b="1" dirty="0">
                <a:solidFill>
                  <a:srgbClr val="EDE9F7"/>
                </a:solidFill>
              </a:rPr>
              <a:t>那每个侧问题都要放到图谱里吗</a:t>
            </a:r>
          </a:p>
        </p:txBody>
      </p:sp>
      <p:sp>
        <p:nvSpPr>
          <p:cNvPr id="3" name="Box 3"/>
          <p:cNvSpPr>
            <a:spLocks noGrp="1"/>
          </p:cNvSpPr>
          <p:nvPr/>
        </p:nvSpPr>
        <p:spPr>
          <a:xfrm>
            <a:off x="914400" y="2286000"/>
            <a:ext cx="10363200" cy="4114800"/>
          </a:xfrm>
          <a:prstGeom prst="rect">
            <a:avLst/>
          </a:prstGeom>
        </p:spPr>
        <p:txBody>
          <a:bodyPr wrap="square" anch="t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1200" b="0" dirty="0">
                <a:solidFill>
                  <a:srgbClr val="7A7688"/>
                </a:solidFill>
              </a:rPr>
              <a:t>（此分支暂无子想法）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Accent"/>
          <p:cNvSpPr/>
          <p:nvPr/>
        </p:nvSpPr>
        <p:spPr>
          <a:xfrm>
            <a:off x="914400" y="2057400"/>
            <a:ext cx="1295400" cy="28575"/>
          </a:xfrm>
          <a:prstGeom prst="rect">
            <a:avLst/>
          </a:prstGeom>
          <a:solidFill>
            <a:srgbClr val="B7A6FF"/>
          </a:solidFill>
        </p:spPr>
        <p:txBody>
          <a:bodyPr/>
          <a:lstStyle/>
          <a:p/>
        </p:txBody>
      </p:sp>
      <p:sp>
        <p:nvSpPr>
          <p:cNvPr id="2" name="Box 2"/>
          <p:cNvSpPr>
            <a:spLocks noGrp="1"/>
          </p:cNvSpPr>
          <p:nvPr/>
        </p:nvSpPr>
        <p:spPr>
          <a:xfrm>
            <a:off x="914400" y="640080"/>
            <a:ext cx="10363200" cy="1280160"/>
          </a:xfrm>
          <a:prstGeom prst="rect">
            <a:avLst/>
          </a:prstGeom>
        </p:spPr>
        <p:txBody>
          <a:bodyPr wrap="square" anch="b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3000" b="1" dirty="0">
                <a:solidFill>
                  <a:srgbClr val="EDE9F7"/>
                </a:solidFill>
              </a:rPr>
              <a:t>回到主线，我想让第一版重点呈现“从原句出发、探索、准确返回、保留想法”这条路径</a:t>
            </a:r>
          </a:p>
        </p:txBody>
      </p:sp>
      <p:sp>
        <p:nvSpPr>
          <p:cNvPr id="3" name="Box 3"/>
          <p:cNvSpPr>
            <a:spLocks noGrp="1"/>
          </p:cNvSpPr>
          <p:nvPr/>
        </p:nvSpPr>
        <p:spPr>
          <a:xfrm>
            <a:off x="914400" y="2286000"/>
            <a:ext cx="10363200" cy="4114800"/>
          </a:xfrm>
          <a:prstGeom prst="rect">
            <a:avLst/>
          </a:prstGeom>
        </p:spPr>
        <p:txBody>
          <a:bodyPr wrap="square" anch="t">
            <a:normAutofit/>
          </a:bodyPr>
          <a:lstStyle/>
          <a:p>
            <a:pPr marL="0" indent="0">
              <a:spcBef>
                <a:spcPts val="800"/>
              </a:spcBef>
            </a:pPr>
            <a:r>
              <a:rPr lang="zh-CN" sz="1200" b="0" dirty="0">
                <a:solidFill>
                  <a:srgbClr val="7A7688"/>
                </a:solidFill>
              </a:rPr>
              <a:t>（此分支暂无子想法）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ave">
  <a:themeElements>
    <a:clrScheme name="Weave">
      <a:dk1>
        <a:srgbClr val="131218"/>
      </a:dk1>
      <a:lt1>
        <a:srgbClr val="FFFFFF"/>
      </a:lt1>
      <a:dk2>
        <a:srgbClr val="3A3450"/>
      </a:dk2>
      <a:lt2>
        <a:srgbClr val="EDE9F7"/>
      </a:lt2>
      <a:accent1>
        <a:srgbClr val="B7A6FF"/>
      </a:accent1>
      <a:accent2>
        <a:srgbClr val="7AA0FF"/>
      </a:accent2>
      <a:accent3>
        <a:srgbClr val="FF9ECF"/>
      </a:accent3>
      <a:accent4>
        <a:srgbClr val="8B5CF6"/>
      </a:accent4>
      <a:accent5>
        <a:srgbClr val="5F8BFF"/>
      </a:accent5>
      <a:accent6>
        <a:srgbClr val="C779E0"/>
      </a:accent6>
      <a:hlink>
        <a:srgbClr val="7AA0FF"/>
      </a:hlink>
      <a:folHlink>
        <a:srgbClr val="B7A6FF"/>
      </a:folHlink>
    </a:clrScheme>
    <a:fontScheme name="Weave">
      <a:majorFont>
        <a:latin typeface="Segoe UI"/>
        <a:ea typeface="Microsoft YaHei"/>
        <a:cs typeface=""/>
      </a:majorFont>
      <a:minorFont>
        <a:latin typeface="Segoe UI"/>
        <a:ea typeface="Microsoft YaHei"/>
        <a:cs typeface=""/>
      </a:minorFont>
    </a:fontScheme>
    <a:fmtScheme name="Wea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